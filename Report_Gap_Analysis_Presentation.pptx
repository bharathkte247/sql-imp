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2A75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8229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Report &amp; Dashboard Gap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9875520" cy="50292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Deployment Impact Assessment for Standard Reports, Dashboards, and Reporting Fields</a:t>
            </a:r>
          </a:p>
        </p:txBody>
      </p:sp>
      <p:sp>
        <p:nvSpPr>
          <p:cNvPr id="6" name="Chevron 5"/>
          <p:cNvSpPr/>
          <p:nvPr/>
        </p:nvSpPr>
        <p:spPr>
          <a:xfrm>
            <a:off x="868680" y="2971800"/>
            <a:ext cx="2656332" cy="731520"/>
          </a:xfrm>
          <a:prstGeom prst="chevron">
            <a:avLst/>
          </a:prstGeom>
          <a:solidFill>
            <a:srgbClr val="2A75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Deployment Changes</a:t>
            </a:r>
          </a:p>
        </p:txBody>
      </p:sp>
      <p:sp>
        <p:nvSpPr>
          <p:cNvPr id="7" name="Chevron 6"/>
          <p:cNvSpPr/>
          <p:nvPr/>
        </p:nvSpPr>
        <p:spPr>
          <a:xfrm>
            <a:off x="3451860" y="2971800"/>
            <a:ext cx="2656332" cy="731520"/>
          </a:xfrm>
          <a:prstGeom prst="chevron">
            <a:avLst/>
          </a:prstGeom>
          <a:solidFill>
            <a:srgbClr val="0096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Report Inventory</a:t>
            </a:r>
          </a:p>
        </p:txBody>
      </p:sp>
      <p:sp>
        <p:nvSpPr>
          <p:cNvPr id="8" name="Chevron 7"/>
          <p:cNvSpPr/>
          <p:nvPr/>
        </p:nvSpPr>
        <p:spPr>
          <a:xfrm>
            <a:off x="6035040" y="2971800"/>
            <a:ext cx="2656332" cy="731520"/>
          </a:xfrm>
          <a:prstGeom prst="chevron">
            <a:avLst/>
          </a:prstGeom>
          <a:solidFill>
            <a:srgbClr val="F59E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Gap Analysis</a:t>
            </a:r>
          </a:p>
        </p:txBody>
      </p:sp>
      <p:sp>
        <p:nvSpPr>
          <p:cNvPr id="9" name="Pentagon 8"/>
          <p:cNvSpPr/>
          <p:nvPr/>
        </p:nvSpPr>
        <p:spPr>
          <a:xfrm>
            <a:off x="8618220" y="2971800"/>
            <a:ext cx="2656332" cy="731520"/>
          </a:xfrm>
          <a:prstGeom prst="homePlate">
            <a:avLst/>
          </a:prstGeom>
          <a:solidFill>
            <a:srgbClr val="4CAF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Remediation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00600"/>
            <a:ext cx="10424160" cy="5943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ptos"/>
              </a:rPr>
              <a:t>Prepared for business, product, data, and reporting stakeholders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/>
            <a:r>
              <a:rPr sz="2400" b="1">
                <a:solidFill>
                  <a:srgbClr val="122A4A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0881360" cy="256032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/>
            <a:r>
              <a:rPr sz="1050" b="0">
                <a:solidFill>
                  <a:srgbClr val="5B6770"/>
                </a:solidFill>
                <a:latin typeface="Aptos"/>
              </a:rPr>
              <a:t>High-level summary of what the latest deployment changes mean for reporting continuity.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896112"/>
            <a:ext cx="11292840" cy="27432"/>
          </a:xfrm>
          <a:prstGeom prst="rect">
            <a:avLst/>
          </a:prstGeom>
          <a:solidFill>
            <a:srgbClr val="2A75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383280" cy="1097280"/>
          </a:xfrm>
          <a:prstGeom prst="roundRect">
            <a:avLst/>
          </a:prstGeom>
          <a:solidFill>
            <a:srgbClr val="2A75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What Changed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ptos"/>
              </a:rPr>
              <a:t>Fields, values, calculations, and dashboard dependencies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34440"/>
            <a:ext cx="3383280" cy="1097280"/>
          </a:xfrm>
          <a:prstGeom prst="roundRect">
            <a:avLst/>
          </a:prstGeom>
          <a:solidFill>
            <a:srgbClr val="F59E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What May Break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ptos"/>
              </a:rPr>
              <a:t>Filters, KPIs, historical comparisons, and visuals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234440"/>
            <a:ext cx="3383280" cy="1097280"/>
          </a:xfrm>
          <a:prstGeom prst="roundRect">
            <a:avLst/>
          </a:prstGeom>
          <a:solidFill>
            <a:srgbClr val="0096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What We Need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ptos"/>
              </a:rPr>
              <a:t>Updates, validation, sign-off, and communication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  <a:latin typeface="Aptos"/>
              </a:defRPr>
            </a:pPr>
            <a:r>
              <a:t>Prioritize high-usage and executive-facing reports first.</a:t>
            </a:r>
          </a:p>
          <a:p>
            <a:pPr>
              <a:defRPr sz="1400">
                <a:solidFill>
                  <a:srgbClr val="1E1E1E"/>
                </a:solidFill>
                <a:latin typeface="Aptos"/>
              </a:defRPr>
            </a:pPr>
            <a:r>
              <a:t>Assess field-level dependencies before changing dashboard visuals.</a:t>
            </a:r>
          </a:p>
          <a:p>
            <a:pPr>
              <a:defRPr sz="1400">
                <a:solidFill>
                  <a:srgbClr val="1E1E1E"/>
                </a:solidFill>
                <a:latin typeface="Aptos"/>
              </a:defRPr>
            </a:pPr>
            <a:r>
              <a:t>Validate metric deltas with business owners to avoid false defects.</a:t>
            </a:r>
          </a:p>
          <a:p>
            <a:pPr>
              <a:defRPr sz="1400">
                <a:solidFill>
                  <a:srgbClr val="1E1E1E"/>
                </a:solidFill>
                <a:latin typeface="Aptos"/>
              </a:defRPr>
            </a:pPr>
            <a:r>
              <a:t>Publish a clear change log for report consumers.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2788920"/>
            <a:ext cx="4983480" cy="2103120"/>
          </a:xfrm>
          <a:prstGeom prst="roundRect">
            <a:avLst/>
          </a:prstGeom>
          <a:solidFill>
            <a:srgbClr val="F3F6F9"/>
          </a:solidFill>
          <a:ln>
            <a:solidFill>
              <a:srgbClr val="2A7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122A4A"/>
                </a:solidFill>
                <a:latin typeface="Aptos"/>
              </a:rPr>
              <a:t>Decision Required
Confirm the critical report list, field mapping ownership, and approval path before publishing updated reporting assets.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r"/>
            <a:r>
              <a:rPr sz="850" b="0">
                <a:solidFill>
                  <a:srgbClr val="5B6770"/>
                </a:solidFill>
                <a:latin typeface="Aptos"/>
              </a:rPr>
              <a:t>Report &amp; Dashboard Gap Analysis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/>
            <a:r>
              <a:rPr sz="2400" b="1">
                <a:solidFill>
                  <a:srgbClr val="122A4A"/>
                </a:solidFill>
                <a:latin typeface="Aptos"/>
              </a:rPr>
              <a:t>Analysis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0881360" cy="256032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/>
            <a:r>
              <a:rPr sz="1050" b="0">
                <a:solidFill>
                  <a:srgbClr val="5B6770"/>
                </a:solidFill>
                <a:latin typeface="Aptos"/>
              </a:rPr>
              <a:t>SmartArt-style process used to identify reporting gaps and required remediation.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896112"/>
            <a:ext cx="11292840" cy="27432"/>
          </a:xfrm>
          <a:prstGeom prst="rect">
            <a:avLst/>
          </a:prstGeom>
          <a:solidFill>
            <a:srgbClr val="2A75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685800" y="1325880"/>
            <a:ext cx="2240280" cy="914400"/>
          </a:xfrm>
          <a:prstGeom prst="chevron">
            <a:avLst/>
          </a:prstGeom>
          <a:solidFill>
            <a:srgbClr val="2A75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1. Capture Changes</a:t>
            </a:r>
          </a:p>
        </p:txBody>
      </p:sp>
      <p:sp>
        <p:nvSpPr>
          <p:cNvPr id="6" name="Chevron 5"/>
          <p:cNvSpPr/>
          <p:nvPr/>
        </p:nvSpPr>
        <p:spPr>
          <a:xfrm>
            <a:off x="2852928" y="1325880"/>
            <a:ext cx="2240280" cy="914400"/>
          </a:xfrm>
          <a:prstGeom prst="chevron">
            <a:avLst/>
          </a:prstGeom>
          <a:solidFill>
            <a:srgbClr val="0096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2. Map Dependencies</a:t>
            </a:r>
          </a:p>
        </p:txBody>
      </p:sp>
      <p:sp>
        <p:nvSpPr>
          <p:cNvPr id="7" name="Chevron 6"/>
          <p:cNvSpPr/>
          <p:nvPr/>
        </p:nvSpPr>
        <p:spPr>
          <a:xfrm>
            <a:off x="5020056" y="1325880"/>
            <a:ext cx="2240280" cy="914400"/>
          </a:xfrm>
          <a:prstGeom prst="chevron">
            <a:avLst/>
          </a:prstGeom>
          <a:solidFill>
            <a:srgbClr val="6F42C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3. Score Impact</a:t>
            </a:r>
          </a:p>
        </p:txBody>
      </p:sp>
      <p:sp>
        <p:nvSpPr>
          <p:cNvPr id="8" name="Chevron 7"/>
          <p:cNvSpPr/>
          <p:nvPr/>
        </p:nvSpPr>
        <p:spPr>
          <a:xfrm>
            <a:off x="7187184" y="1325880"/>
            <a:ext cx="2240280" cy="914400"/>
          </a:xfrm>
          <a:prstGeom prst="chevron">
            <a:avLst/>
          </a:prstGeom>
          <a:solidFill>
            <a:srgbClr val="F59E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4. Remediate</a:t>
            </a:r>
          </a:p>
        </p:txBody>
      </p:sp>
      <p:sp>
        <p:nvSpPr>
          <p:cNvPr id="9" name="Pentagon 8"/>
          <p:cNvSpPr/>
          <p:nvPr/>
        </p:nvSpPr>
        <p:spPr>
          <a:xfrm>
            <a:off x="9354312" y="1325880"/>
            <a:ext cx="2240280" cy="914400"/>
          </a:xfrm>
          <a:prstGeom prst="homePlate">
            <a:avLst/>
          </a:prstGeom>
          <a:solidFill>
            <a:srgbClr val="4CAF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5. Validate &amp; Sign Off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68680" y="2834640"/>
          <a:ext cx="104241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046720"/>
              </a:tblGrid>
              <a:tr h="4191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Primary Activities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Capture Changes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Deployment notes, field changes, value changes, logic updates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Map Dependencies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Reports, dashboards, datasets, filters, formulas, calculations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Score Impact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Criticality, usage frequency, user segment, compliance exposure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Remediate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Update report fields, filters, dashboard tiles, formulas,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Validate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Compare outputs, test refresh, obtain business owner approval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r"/>
            <a:r>
              <a:rPr sz="850" b="0">
                <a:solidFill>
                  <a:srgbClr val="5B6770"/>
                </a:solidFill>
                <a:latin typeface="Aptos"/>
              </a:rPr>
              <a:t>Report &amp; Dashboard Gap Analysis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/>
            <a:r>
              <a:rPr sz="2400" b="1">
                <a:solidFill>
                  <a:srgbClr val="122A4A"/>
                </a:solidFill>
                <a:latin typeface="Aptos"/>
              </a:rPr>
              <a:t>Deployment-to-Reporting Impact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0881360" cy="256032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/>
            <a:r>
              <a:rPr sz="1050" b="0">
                <a:solidFill>
                  <a:srgbClr val="5B6770"/>
                </a:solidFill>
                <a:latin typeface="Aptos"/>
              </a:rPr>
              <a:t>How upstream deployment changes can cascade into reports and dashboards.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896112"/>
            <a:ext cx="11292840" cy="27432"/>
          </a:xfrm>
          <a:prstGeom prst="rect">
            <a:avLst/>
          </a:prstGeom>
          <a:solidFill>
            <a:srgbClr val="2A75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737360" cy="1325880"/>
          </a:xfrm>
          <a:prstGeom prst="roundRect">
            <a:avLst/>
          </a:prstGeom>
          <a:solidFill>
            <a:srgbClr val="2A75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Deployment Change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ptos"/>
              </a:rPr>
              <a:t>New or modified fields, values, business rules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86000" y="2331720"/>
            <a:ext cx="594360" cy="292608"/>
          </a:xfrm>
          <a:prstGeom prst="rightArrow">
            <a:avLst/>
          </a:prstGeom>
          <a:solidFill>
            <a:srgbClr val="5B677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0360" y="1828800"/>
            <a:ext cx="1737360" cy="1325880"/>
          </a:xfrm>
          <a:prstGeom prst="roundRect">
            <a:avLst/>
          </a:prstGeom>
          <a:solidFill>
            <a:srgbClr val="0096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Data Model / Dataset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ptos"/>
              </a:rPr>
              <a:t>Mapping, refresh, transformation, history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663440" y="2331720"/>
            <a:ext cx="594360" cy="292608"/>
          </a:xfrm>
          <a:prstGeom prst="rightArrow">
            <a:avLst/>
          </a:prstGeom>
          <a:solidFill>
            <a:srgbClr val="5B677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57800" y="1828800"/>
            <a:ext cx="1737360" cy="1325880"/>
          </a:xfrm>
          <a:prstGeom prst="roundRect">
            <a:avLst/>
          </a:prstGeom>
          <a:solidFill>
            <a:srgbClr val="6F42C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Report Logic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ptos"/>
              </a:rPr>
              <a:t>Filters, formulas, grouping, calculations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40880" y="2331720"/>
            <a:ext cx="594360" cy="292608"/>
          </a:xfrm>
          <a:prstGeom prst="rightArrow">
            <a:avLst/>
          </a:prstGeom>
          <a:solidFill>
            <a:srgbClr val="5B677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35240" y="1828800"/>
            <a:ext cx="1737360" cy="1325880"/>
          </a:xfrm>
          <a:prstGeom prst="roundRect">
            <a:avLst/>
          </a:prstGeom>
          <a:solidFill>
            <a:srgbClr val="F59E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Dashboard Visuals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ptos"/>
              </a:rPr>
              <a:t>Cards, charts, slicers, drill-through views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418319" y="2331720"/>
            <a:ext cx="594360" cy="292608"/>
          </a:xfrm>
          <a:prstGeom prst="rightArrow">
            <a:avLst/>
          </a:prstGeom>
          <a:solidFill>
            <a:srgbClr val="5B677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12680" y="1828800"/>
            <a:ext cx="1737360" cy="1325880"/>
          </a:xfrm>
          <a:prstGeom prst="roundRect">
            <a:avLst/>
          </a:prstGeom>
          <a:solidFill>
            <a:srgbClr val="4CAF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Business Decision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ptos"/>
              </a:rPr>
              <a:t>KPI interpretation, operations, 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10378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22A4A"/>
                </a:solidFill>
                <a:latin typeface="Aptos"/>
              </a:defRPr>
            </a:pPr>
            <a:r>
              <a:t>A small field or value-list change can have a visible dashboard impact if it is used in filters or KPI formulas.</a:t>
            </a:r>
          </a:p>
          <a:p>
            <a:pPr>
              <a:defRPr sz="1400">
                <a:solidFill>
                  <a:srgbClr val="122A4A"/>
                </a:solidFill>
                <a:latin typeface="Aptos"/>
              </a:defRPr>
            </a:pPr>
            <a:r>
              <a:t>Impact assessment should trace from source change to dataset, report logic, dashboard visual, and business outcome.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r"/>
            <a:r>
              <a:rPr sz="850" b="0">
                <a:solidFill>
                  <a:srgbClr val="5B6770"/>
                </a:solidFill>
                <a:latin typeface="Aptos"/>
              </a:rPr>
              <a:t>Report &amp; Dashboard Gap Analysis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/>
            <a:r>
              <a:rPr sz="2400" b="1">
                <a:solidFill>
                  <a:srgbClr val="122A4A"/>
                </a:solidFill>
                <a:latin typeface="Aptos"/>
              </a:rPr>
              <a:t>Report Inventory &amp; Criticality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0881360" cy="256032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/>
            <a:r>
              <a:rPr sz="1050" b="0">
                <a:solidFill>
                  <a:srgbClr val="5B6770"/>
                </a:solidFill>
                <a:latin typeface="Aptos"/>
              </a:rPr>
              <a:t>Starting inventory to confirm which reporting assets need deeper analysis.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896112"/>
            <a:ext cx="11292840" cy="27432"/>
          </a:xfrm>
          <a:prstGeom prst="rect">
            <a:avLst/>
          </a:prstGeom>
          <a:solidFill>
            <a:srgbClr val="2A75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88720"/>
          <a:ext cx="94183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1463040"/>
                <a:gridCol w="1463040"/>
                <a:gridCol w="1554480"/>
              </a:tblGrid>
              <a:tr h="34290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Report / Dashboard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Criticality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Impacted?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Executive Dashboard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Leadership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Daily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Sales Performance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Sales 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Daily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Customer Pipeline Report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CRM Team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Weekly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Operational Summary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Operations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Compliance Extract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Risk / Compliance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6" name="Chevron 5"/>
          <p:cNvSpPr/>
          <p:nvPr/>
        </p:nvSpPr>
        <p:spPr>
          <a:xfrm>
            <a:off x="1051560" y="3977639"/>
            <a:ext cx="2576322" cy="731520"/>
          </a:xfrm>
          <a:prstGeom prst="chevron">
            <a:avLst/>
          </a:prstGeom>
          <a:solidFill>
            <a:srgbClr val="2A75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Inventory</a:t>
            </a:r>
          </a:p>
        </p:txBody>
      </p:sp>
      <p:sp>
        <p:nvSpPr>
          <p:cNvPr id="7" name="Chevron 6"/>
          <p:cNvSpPr/>
          <p:nvPr/>
        </p:nvSpPr>
        <p:spPr>
          <a:xfrm>
            <a:off x="3554729" y="3977639"/>
            <a:ext cx="2576322" cy="731520"/>
          </a:xfrm>
          <a:prstGeom prst="chevron">
            <a:avLst/>
          </a:prstGeom>
          <a:solidFill>
            <a:srgbClr val="6F42C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Criticality</a:t>
            </a:r>
          </a:p>
        </p:txBody>
      </p:sp>
      <p:sp>
        <p:nvSpPr>
          <p:cNvPr id="8" name="Chevron 7"/>
          <p:cNvSpPr/>
          <p:nvPr/>
        </p:nvSpPr>
        <p:spPr>
          <a:xfrm>
            <a:off x="6057900" y="3977639"/>
            <a:ext cx="2576322" cy="731520"/>
          </a:xfrm>
          <a:prstGeom prst="chevron">
            <a:avLst/>
          </a:prstGeom>
          <a:solidFill>
            <a:srgbClr val="F59E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Dependency Mapping</a:t>
            </a:r>
          </a:p>
        </p:txBody>
      </p:sp>
      <p:sp>
        <p:nvSpPr>
          <p:cNvPr id="9" name="Pentagon 8"/>
          <p:cNvSpPr/>
          <p:nvPr/>
        </p:nvSpPr>
        <p:spPr>
          <a:xfrm>
            <a:off x="8561069" y="3977639"/>
            <a:ext cx="2576322" cy="731520"/>
          </a:xfrm>
          <a:prstGeom prst="homePlate">
            <a:avLst/>
          </a:prstGeom>
          <a:solidFill>
            <a:srgbClr val="4CAF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Impact Confirmation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r"/>
            <a:r>
              <a:rPr sz="850" b="0">
                <a:solidFill>
                  <a:srgbClr val="5B6770"/>
                </a:solidFill>
                <a:latin typeface="Aptos"/>
              </a:rPr>
              <a:t>Report &amp; Dashboard Gap Analysis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/>
            <a:r>
              <a:rPr sz="2400" b="1">
                <a:solidFill>
                  <a:srgbClr val="122A4A"/>
                </a:solidFill>
                <a:latin typeface="Aptos"/>
              </a:rPr>
              <a:t>Gap Analysis Heat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0881360" cy="256032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/>
            <a:r>
              <a:rPr sz="1050" b="0">
                <a:solidFill>
                  <a:srgbClr val="5B6770"/>
                </a:solidFill>
                <a:latin typeface="Aptos"/>
              </a:rPr>
              <a:t>Severity scoring across representative reports and deployment change categories.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896112"/>
            <a:ext cx="11292840" cy="27432"/>
          </a:xfrm>
          <a:prstGeom prst="rect">
            <a:avLst/>
          </a:prstGeom>
          <a:solidFill>
            <a:srgbClr val="2A75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234440"/>
          <a:ext cx="10332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463040"/>
                <a:gridCol w="1645920"/>
                <a:gridCol w="1737360"/>
                <a:gridCol w="1645920"/>
                <a:gridCol w="13716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86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Report / Dashboard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6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New Fields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6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Modified Logic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6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Deprecated Fields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6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Filters / Values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6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Overall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Executive Dashboard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Sales 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Customer Pipeline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Compliance Extract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DC354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749039" y="4617720"/>
            <a:ext cx="1143000" cy="411480"/>
          </a:xfrm>
          <a:prstGeom prst="roundRect">
            <a:avLst/>
          </a:prstGeom>
          <a:solidFill>
            <a:srgbClr val="DC354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High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0" y="4617720"/>
            <a:ext cx="1143000" cy="411480"/>
          </a:xfrm>
          <a:prstGeom prst="roundRect">
            <a:avLst/>
          </a:prstGeom>
          <a:solidFill>
            <a:srgbClr val="F59E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Medium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4617720"/>
            <a:ext cx="1143000" cy="411480"/>
          </a:xfrm>
          <a:prstGeom prst="roundRect">
            <a:avLst/>
          </a:prstGeom>
          <a:solidFill>
            <a:srgbClr val="4CAF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r"/>
            <a:r>
              <a:rPr sz="850" b="0">
                <a:solidFill>
                  <a:srgbClr val="5B6770"/>
                </a:solidFill>
                <a:latin typeface="Aptos"/>
              </a:rPr>
              <a:t>Report &amp; Dashboard Gap Analysis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/>
            <a:r>
              <a:rPr sz="2400" b="1">
                <a:solidFill>
                  <a:srgbClr val="122A4A"/>
                </a:solidFill>
                <a:latin typeface="Aptos"/>
              </a:rPr>
              <a:t>Field-Level Impact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0881360" cy="256032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/>
            <a:r>
              <a:rPr sz="1050" b="0">
                <a:solidFill>
                  <a:srgbClr val="5B6770"/>
                </a:solidFill>
                <a:latin typeface="Aptos"/>
              </a:rPr>
              <a:t>Field changes should be mapped to exact reports, formulas, filters, and downstream users.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896112"/>
            <a:ext cx="11292840" cy="27432"/>
          </a:xfrm>
          <a:prstGeom prst="rect">
            <a:avLst/>
          </a:prstGeom>
          <a:solidFill>
            <a:srgbClr val="2A75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43000"/>
          <a:ext cx="104241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57400"/>
                <a:gridCol w="2423160"/>
                <a:gridCol w="1828800"/>
                <a:gridCol w="2743200"/>
              </a:tblGrid>
              <a:tr h="466344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Current Usage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Deployment Change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Recommendation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Filter + chart series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New status values added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Incomplete views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Update filters and legends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Revenue Amount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KPI + trend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Calculation logic updated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Metric variance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Validate formula and annotate variance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Customer Type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Grouping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Deprecated; replaced by Segment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Blank/error risk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Replace with Segment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Grouping +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No 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No impact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No 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hevron 5"/>
          <p:cNvSpPr/>
          <p:nvPr/>
        </p:nvSpPr>
        <p:spPr>
          <a:xfrm>
            <a:off x="914400" y="4206240"/>
            <a:ext cx="2121408" cy="685800"/>
          </a:xfrm>
          <a:prstGeom prst="chevron">
            <a:avLst/>
          </a:prstGeom>
          <a:solidFill>
            <a:srgbClr val="2A75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Source Field</a:t>
            </a:r>
          </a:p>
        </p:txBody>
      </p:sp>
      <p:sp>
        <p:nvSpPr>
          <p:cNvPr id="7" name="Chevron 6"/>
          <p:cNvSpPr/>
          <p:nvPr/>
        </p:nvSpPr>
        <p:spPr>
          <a:xfrm>
            <a:off x="2962656" y="4206240"/>
            <a:ext cx="2121408" cy="685800"/>
          </a:xfrm>
          <a:prstGeom prst="chevron">
            <a:avLst/>
          </a:prstGeom>
          <a:solidFill>
            <a:srgbClr val="0096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Dataset Mapping</a:t>
            </a:r>
          </a:p>
        </p:txBody>
      </p:sp>
      <p:sp>
        <p:nvSpPr>
          <p:cNvPr id="8" name="Chevron 7"/>
          <p:cNvSpPr/>
          <p:nvPr/>
        </p:nvSpPr>
        <p:spPr>
          <a:xfrm>
            <a:off x="5010912" y="4206240"/>
            <a:ext cx="2121408" cy="685800"/>
          </a:xfrm>
          <a:prstGeom prst="chevron">
            <a:avLst/>
          </a:prstGeom>
          <a:solidFill>
            <a:srgbClr val="6F42C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Report Formula</a:t>
            </a:r>
          </a:p>
        </p:txBody>
      </p:sp>
      <p:sp>
        <p:nvSpPr>
          <p:cNvPr id="9" name="Chevron 8"/>
          <p:cNvSpPr/>
          <p:nvPr/>
        </p:nvSpPr>
        <p:spPr>
          <a:xfrm>
            <a:off x="7059167" y="4206240"/>
            <a:ext cx="2121408" cy="685800"/>
          </a:xfrm>
          <a:prstGeom prst="chevron">
            <a:avLst/>
          </a:prstGeom>
          <a:solidFill>
            <a:srgbClr val="F59E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Dashboard Visual</a:t>
            </a:r>
          </a:p>
        </p:txBody>
      </p:sp>
      <p:sp>
        <p:nvSpPr>
          <p:cNvPr id="10" name="Pentagon 9"/>
          <p:cNvSpPr/>
          <p:nvPr/>
        </p:nvSpPr>
        <p:spPr>
          <a:xfrm>
            <a:off x="9107424" y="4206240"/>
            <a:ext cx="2121408" cy="685800"/>
          </a:xfrm>
          <a:prstGeom prst="homePlate">
            <a:avLst/>
          </a:prstGeom>
          <a:solidFill>
            <a:srgbClr val="4CAF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User 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r"/>
            <a:r>
              <a:rPr sz="850" b="0">
                <a:solidFill>
                  <a:srgbClr val="5B6770"/>
                </a:solidFill>
                <a:latin typeface="Aptos"/>
              </a:rPr>
              <a:t>Report &amp; Dashboard Gap Analysis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/>
            <a:r>
              <a:rPr sz="2400" b="1">
                <a:solidFill>
                  <a:srgbClr val="122A4A"/>
                </a:solidFill>
                <a:latin typeface="Aptos"/>
              </a:rPr>
              <a:t>Dashboard Component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0881360" cy="256032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/>
            <a:r>
              <a:rPr sz="1050" b="0">
                <a:solidFill>
                  <a:srgbClr val="5B6770"/>
                </a:solidFill>
                <a:latin typeface="Aptos"/>
              </a:rPr>
              <a:t>Hub-and-spoke view of dashboard elements that require review after deployment.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896112"/>
            <a:ext cx="11292840" cy="27432"/>
          </a:xfrm>
          <a:prstGeom prst="rect">
            <a:avLst/>
          </a:prstGeom>
          <a:solidFill>
            <a:srgbClr val="2A75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09160" y="1965960"/>
            <a:ext cx="2743200" cy="1280160"/>
          </a:xfrm>
          <a:prstGeom prst="ellipse">
            <a:avLst/>
          </a:prstGeom>
          <a:solidFill>
            <a:srgbClr val="122A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Dashboard
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2057400" cy="658368"/>
          </a:xfrm>
          <a:prstGeom prst="roundRect">
            <a:avLst/>
          </a:prstGeom>
          <a:solidFill>
            <a:srgbClr val="2A75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KPI Cards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868680"/>
            <a:ext cx="2057400" cy="658368"/>
          </a:xfrm>
          <a:prstGeom prst="roundRect">
            <a:avLst/>
          </a:prstGeom>
          <a:solidFill>
            <a:srgbClr val="0096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Charts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325880"/>
            <a:ext cx="2057400" cy="658368"/>
          </a:xfrm>
          <a:prstGeom prst="roundRect">
            <a:avLst/>
          </a:prstGeom>
          <a:solidFill>
            <a:srgbClr val="6F42C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Filters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31920"/>
            <a:ext cx="2057400" cy="658368"/>
          </a:xfrm>
          <a:prstGeom prst="roundRect">
            <a:avLst/>
          </a:prstGeom>
          <a:solidFill>
            <a:srgbClr val="F59E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Drill-downs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4617720"/>
            <a:ext cx="2057400" cy="658368"/>
          </a:xfrm>
          <a:prstGeom prst="roundRect">
            <a:avLst/>
          </a:prstGeom>
          <a:solidFill>
            <a:srgbClr val="DC354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Refresh Jobs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3931920"/>
            <a:ext cx="2057400" cy="658368"/>
          </a:xfrm>
          <a:prstGeom prst="roundRect">
            <a:avLst/>
          </a:prstGeom>
          <a:solidFill>
            <a:srgbClr val="4CAF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Security /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r"/>
            <a:r>
              <a:rPr sz="850" b="0">
                <a:solidFill>
                  <a:srgbClr val="5B6770"/>
                </a:solidFill>
                <a:latin typeface="Aptos"/>
              </a:rPr>
              <a:t>Report &amp; Dashboard Gap Analysis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/>
            <a:r>
              <a:rPr sz="2400" b="1">
                <a:solidFill>
                  <a:srgbClr val="122A4A"/>
                </a:solidFill>
                <a:latin typeface="Aptos"/>
              </a:rPr>
              <a:t>Business Impact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0881360" cy="256032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/>
            <a:r>
              <a:rPr sz="1050" b="0">
                <a:solidFill>
                  <a:srgbClr val="5B6770"/>
                </a:solidFill>
                <a:latin typeface="Aptos"/>
              </a:rPr>
              <a:t>Impact should be explained in business terms, not only technical report changes.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896112"/>
            <a:ext cx="11292840" cy="27432"/>
          </a:xfrm>
          <a:prstGeom prst="rect">
            <a:avLst/>
          </a:prstGeom>
          <a:solidFill>
            <a:srgbClr val="2A75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pezoid 4"/>
          <p:cNvSpPr/>
          <p:nvPr/>
        </p:nvSpPr>
        <p:spPr>
          <a:xfrm>
            <a:off x="2514600" y="1417320"/>
            <a:ext cx="7132320" cy="868680"/>
          </a:xfrm>
          <a:prstGeom prst="trapezoid">
            <a:avLst/>
          </a:prstGeom>
          <a:solidFill>
            <a:srgbClr val="DC354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High Impact — Executive decisions, compliance submissions, external reporting</a:t>
            </a:r>
          </a:p>
        </p:txBody>
      </p:sp>
      <p:sp>
        <p:nvSpPr>
          <p:cNvPr id="6" name="Trapezoid 5"/>
          <p:cNvSpPr/>
          <p:nvPr/>
        </p:nvSpPr>
        <p:spPr>
          <a:xfrm>
            <a:off x="2720340" y="2468880"/>
            <a:ext cx="6720840" cy="868680"/>
          </a:xfrm>
          <a:prstGeom prst="trapezoid">
            <a:avLst/>
          </a:prstGeom>
          <a:solidFill>
            <a:srgbClr val="F59E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Medium Impact — Operational tracking, forecast accuracy, adoption confidence</a:t>
            </a:r>
          </a:p>
        </p:txBody>
      </p:sp>
      <p:sp>
        <p:nvSpPr>
          <p:cNvPr id="7" name="Trapezoid 6"/>
          <p:cNvSpPr/>
          <p:nvPr/>
        </p:nvSpPr>
        <p:spPr>
          <a:xfrm>
            <a:off x="2926080" y="3520439"/>
            <a:ext cx="6309360" cy="868680"/>
          </a:xfrm>
          <a:prstGeom prst="trapezoid">
            <a:avLst/>
          </a:prstGeom>
          <a:solidFill>
            <a:srgbClr val="4CAF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Low Impact — Low-frequency reports or non-critical supporting 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80060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22A4A"/>
                </a:solidFill>
                <a:latin typeface="Aptos"/>
              </a:defRPr>
            </a:pPr>
            <a:r>
              <a:t>Use impact level to drive remediation order and business sign-off sequence.</a:t>
            </a:r>
          </a:p>
          <a:p>
            <a:pPr>
              <a:defRPr sz="1350">
                <a:solidFill>
                  <a:srgbClr val="122A4A"/>
                </a:solidFill>
                <a:latin typeface="Aptos"/>
              </a:defRPr>
            </a:pPr>
            <a:r>
              <a:t>Document known metric changes separately from defects so stakeholders understand expected variance.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r"/>
            <a:r>
              <a:rPr sz="850" b="0">
                <a:solidFill>
                  <a:srgbClr val="5B6770"/>
                </a:solidFill>
                <a:latin typeface="Aptos"/>
              </a:rPr>
              <a:t>Report &amp; Dashboard Gap Analysis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/>
            <a:r>
              <a:rPr sz="2400" b="1">
                <a:solidFill>
                  <a:srgbClr val="122A4A"/>
                </a:solidFill>
                <a:latin typeface="Aptos"/>
              </a:rPr>
              <a:t>Recommended Remediation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0881360" cy="256032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/>
            <a:r>
              <a:rPr sz="1050" b="0">
                <a:solidFill>
                  <a:srgbClr val="5B6770"/>
                </a:solidFill>
                <a:latin typeface="Aptos"/>
              </a:rPr>
              <a:t>Sequenced actions to update reporting assets and reduce deployment risk.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896112"/>
            <a:ext cx="11292840" cy="27432"/>
          </a:xfrm>
          <a:prstGeom prst="rect">
            <a:avLst/>
          </a:prstGeom>
          <a:solidFill>
            <a:srgbClr val="2A75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640080" y="1417320"/>
            <a:ext cx="1886712" cy="822960"/>
          </a:xfrm>
          <a:prstGeom prst="chevron">
            <a:avLst/>
          </a:prstGeom>
          <a:solidFill>
            <a:srgbClr val="2A75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Prioritize</a:t>
            </a:r>
          </a:p>
        </p:txBody>
      </p:sp>
      <p:sp>
        <p:nvSpPr>
          <p:cNvPr id="6" name="Chevron 5"/>
          <p:cNvSpPr/>
          <p:nvPr/>
        </p:nvSpPr>
        <p:spPr>
          <a:xfrm>
            <a:off x="2453640" y="1417320"/>
            <a:ext cx="1886712" cy="822960"/>
          </a:xfrm>
          <a:prstGeom prst="chevron">
            <a:avLst/>
          </a:prstGeom>
          <a:solidFill>
            <a:srgbClr val="0096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Update</a:t>
            </a:r>
          </a:p>
        </p:txBody>
      </p:sp>
      <p:sp>
        <p:nvSpPr>
          <p:cNvPr id="7" name="Chevron 6"/>
          <p:cNvSpPr/>
          <p:nvPr/>
        </p:nvSpPr>
        <p:spPr>
          <a:xfrm>
            <a:off x="4267200" y="1417320"/>
            <a:ext cx="1886712" cy="822960"/>
          </a:xfrm>
          <a:prstGeom prst="chevron">
            <a:avLst/>
          </a:prstGeom>
          <a:solidFill>
            <a:srgbClr val="6F42C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Validate</a:t>
            </a:r>
          </a:p>
        </p:txBody>
      </p:sp>
      <p:sp>
        <p:nvSpPr>
          <p:cNvPr id="8" name="Chevron 7"/>
          <p:cNvSpPr/>
          <p:nvPr/>
        </p:nvSpPr>
        <p:spPr>
          <a:xfrm>
            <a:off x="6080760" y="1417320"/>
            <a:ext cx="1886712" cy="822960"/>
          </a:xfrm>
          <a:prstGeom prst="chevron">
            <a:avLst/>
          </a:prstGeom>
          <a:solidFill>
            <a:srgbClr val="F59E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Approve</a:t>
            </a:r>
          </a:p>
        </p:txBody>
      </p:sp>
      <p:sp>
        <p:nvSpPr>
          <p:cNvPr id="9" name="Chevron 8"/>
          <p:cNvSpPr/>
          <p:nvPr/>
        </p:nvSpPr>
        <p:spPr>
          <a:xfrm>
            <a:off x="7894320" y="1417320"/>
            <a:ext cx="1886712" cy="822960"/>
          </a:xfrm>
          <a:prstGeom prst="chevron">
            <a:avLst/>
          </a:prstGeom>
          <a:solidFill>
            <a:srgbClr val="4CAF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Publish</a:t>
            </a:r>
          </a:p>
        </p:txBody>
      </p:sp>
      <p:sp>
        <p:nvSpPr>
          <p:cNvPr id="10" name="Pentagon 9"/>
          <p:cNvSpPr/>
          <p:nvPr/>
        </p:nvSpPr>
        <p:spPr>
          <a:xfrm>
            <a:off x="9707880" y="1417320"/>
            <a:ext cx="1886712" cy="822960"/>
          </a:xfrm>
          <a:prstGeom prst="homePlate">
            <a:avLst/>
          </a:prstGeom>
          <a:solidFill>
            <a:srgbClr val="122A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Monitor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68680" y="2743200"/>
          <a:ext cx="1042416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595360"/>
              </a:tblGrid>
              <a:tr h="372291">
                <a:tc>
                  <a:txBody>
                    <a:bodyPr/>
                    <a:lstStyle/>
                    <a:p>
                      <a:pPr>
                        <a:defRPr b="1" sz="1019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19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Actions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Prioritize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Confirm critical reports, owners, and usage frequency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Replace deprecated fields, adjust formulas, add new values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Validate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Compare metrics, refresh dashboards, test filters and drill-downs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Obtain business owner sign-off for high-impact 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Publish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Promote updated assets and communicate report changes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372294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Monitor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Track refresh errors, user feedback, and KPI anomalies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r"/>
            <a:r>
              <a:rPr sz="850" b="0">
                <a:solidFill>
                  <a:srgbClr val="5B6770"/>
                </a:solidFill>
                <a:latin typeface="Aptos"/>
              </a:rPr>
              <a:t>Report &amp; Dashboard Gap Analysis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/>
            <a:r>
              <a:rPr sz="2400" b="1">
                <a:solidFill>
                  <a:srgbClr val="122A4A"/>
                </a:solidFill>
                <a:latin typeface="Aptos"/>
              </a:rPr>
              <a:t>Validation &amp; Sign-Off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0881360" cy="256032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/>
            <a:r>
              <a:rPr sz="1050" b="0">
                <a:solidFill>
                  <a:srgbClr val="5B6770"/>
                </a:solidFill>
                <a:latin typeface="Aptos"/>
              </a:rPr>
              <a:t>Checklist to confirm reports are accurate and trusted before rollout.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896112"/>
            <a:ext cx="11292840" cy="27432"/>
          </a:xfrm>
          <a:prstGeom prst="rect">
            <a:avLst/>
          </a:prstGeom>
          <a:solidFill>
            <a:srgbClr val="2A75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325880"/>
            <a:ext cx="4983480" cy="713232"/>
          </a:xfrm>
          <a:prstGeom prst="roundRect">
            <a:avLst/>
          </a:prstGeom>
          <a:solidFill>
            <a:srgbClr val="4CAF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✓ Report runs without errors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25880"/>
            <a:ext cx="4983480" cy="713232"/>
          </a:xfrm>
          <a:prstGeom prst="roundRect">
            <a:avLst/>
          </a:prstGeom>
          <a:solidFill>
            <a:srgbClr val="4CAF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✓ Field mappings verified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423160"/>
            <a:ext cx="4983480" cy="713232"/>
          </a:xfrm>
          <a:prstGeom prst="roundRect">
            <a:avLst/>
          </a:prstGeom>
          <a:solidFill>
            <a:srgbClr val="F59E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✓ Filters include new deployment 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423160"/>
            <a:ext cx="4983480" cy="713232"/>
          </a:xfrm>
          <a:prstGeom prst="roundRect">
            <a:avLst/>
          </a:prstGeom>
          <a:solidFill>
            <a:srgbClr val="F59E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✓ KPI formulas reconciled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520439"/>
            <a:ext cx="4983480" cy="713232"/>
          </a:xfrm>
          <a:prstGeom prst="roundRect">
            <a:avLst/>
          </a:prstGeom>
          <a:solidFill>
            <a:srgbClr val="4CAF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✓ Dashboard refresh tested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520439"/>
            <a:ext cx="4983480" cy="713232"/>
          </a:xfrm>
          <a:prstGeom prst="roundRect">
            <a:avLst/>
          </a:prstGeom>
          <a:solidFill>
            <a:srgbClr val="2A75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✓ Business owner sign-off captured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4892040"/>
            <a:ext cx="10195560" cy="685800"/>
          </a:xfrm>
          <a:prstGeom prst="roundRect">
            <a:avLst/>
          </a:prstGeom>
          <a:solidFill>
            <a:srgbClr val="F3F6F9"/>
          </a:solidFill>
          <a:ln>
            <a:solidFill>
              <a:srgbClr val="2A7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122A4A"/>
                </a:solidFill>
                <a:latin typeface="Aptos"/>
              </a:rPr>
              <a:t>Recommended evidence: before/after screenshots, data extracts, field mapping notes, and owner approval record.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r"/>
            <a:r>
              <a:rPr sz="850" b="0">
                <a:solidFill>
                  <a:srgbClr val="5B6770"/>
                </a:solidFill>
                <a:latin typeface="Aptos"/>
              </a:rPr>
              <a:t>Report &amp; Dashboard Gap Analysis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/>
            <a:r>
              <a:rPr sz="2400" b="1">
                <a:solidFill>
                  <a:srgbClr val="122A4A"/>
                </a:solidFill>
                <a:latin typeface="Aptos"/>
              </a:rPr>
              <a:t>Stakeholder Ownership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0881360" cy="256032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/>
            <a:r>
              <a:rPr sz="1050" b="0">
                <a:solidFill>
                  <a:srgbClr val="5B6770"/>
                </a:solidFill>
                <a:latin typeface="Aptos"/>
              </a:rPr>
              <a:t>Clear ownership prevents gaps from being missed during deployment readiness.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896112"/>
            <a:ext cx="11292840" cy="27432"/>
          </a:xfrm>
          <a:prstGeom prst="rect">
            <a:avLst/>
          </a:prstGeom>
          <a:solidFill>
            <a:srgbClr val="2A75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34440"/>
          <a:ext cx="10744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7909560"/>
              </a:tblGrid>
              <a:tr h="438912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Stakeholder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Ownership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Product / Deployment Team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Provide change notes, field definitions, and expected metric behavior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Data / BI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Map dependencies, update datasets, modify reports and dashboards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Business Owners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Validate outputs, confirm acceptance, approve report publication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Support / Operations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1E1E"/>
                          </a:solidFill>
                          <a:latin typeface="Aptos"/>
                        </a:defRPr>
                      </a:pPr>
                      <a:r>
                        <a:t>Monitor post-release issues and user feedback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hevron 5"/>
          <p:cNvSpPr/>
          <p:nvPr/>
        </p:nvSpPr>
        <p:spPr>
          <a:xfrm>
            <a:off x="1234440" y="4251960"/>
            <a:ext cx="2011680" cy="713232"/>
          </a:xfrm>
          <a:prstGeom prst="chevron">
            <a:avLst/>
          </a:prstGeom>
          <a:solidFill>
            <a:srgbClr val="2A75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Change Notice</a:t>
            </a:r>
          </a:p>
        </p:txBody>
      </p:sp>
      <p:sp>
        <p:nvSpPr>
          <p:cNvPr id="7" name="Chevron 6"/>
          <p:cNvSpPr/>
          <p:nvPr/>
        </p:nvSpPr>
        <p:spPr>
          <a:xfrm>
            <a:off x="3172968" y="4251960"/>
            <a:ext cx="2011680" cy="713232"/>
          </a:xfrm>
          <a:prstGeom prst="chevron">
            <a:avLst/>
          </a:prstGeom>
          <a:solidFill>
            <a:srgbClr val="0096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Impact Review</a:t>
            </a:r>
          </a:p>
        </p:txBody>
      </p:sp>
      <p:sp>
        <p:nvSpPr>
          <p:cNvPr id="8" name="Chevron 7"/>
          <p:cNvSpPr/>
          <p:nvPr/>
        </p:nvSpPr>
        <p:spPr>
          <a:xfrm>
            <a:off x="5111496" y="4251960"/>
            <a:ext cx="2011680" cy="713232"/>
          </a:xfrm>
          <a:prstGeom prst="chevron">
            <a:avLst/>
          </a:prstGeom>
          <a:solidFill>
            <a:srgbClr val="6F42C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Business Validation</a:t>
            </a:r>
          </a:p>
        </p:txBody>
      </p:sp>
      <p:sp>
        <p:nvSpPr>
          <p:cNvPr id="9" name="Chevron 8"/>
          <p:cNvSpPr/>
          <p:nvPr/>
        </p:nvSpPr>
        <p:spPr>
          <a:xfrm>
            <a:off x="7050024" y="4251960"/>
            <a:ext cx="2011680" cy="713232"/>
          </a:xfrm>
          <a:prstGeom prst="chevron">
            <a:avLst/>
          </a:prstGeom>
          <a:solidFill>
            <a:srgbClr val="4CAF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Publication</a:t>
            </a:r>
          </a:p>
        </p:txBody>
      </p:sp>
      <p:sp>
        <p:nvSpPr>
          <p:cNvPr id="10" name="Pentagon 9"/>
          <p:cNvSpPr/>
          <p:nvPr/>
        </p:nvSpPr>
        <p:spPr>
          <a:xfrm>
            <a:off x="8988552" y="4251960"/>
            <a:ext cx="2011680" cy="713232"/>
          </a:xfrm>
          <a:prstGeom prst="homePlate">
            <a:avLst/>
          </a:prstGeom>
          <a:solidFill>
            <a:srgbClr val="122A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Post-Release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r"/>
            <a:r>
              <a:rPr sz="850" b="0">
                <a:solidFill>
                  <a:srgbClr val="5B6770"/>
                </a:solidFill>
                <a:latin typeface="Aptos"/>
              </a:rPr>
              <a:t>Report &amp; Dashboard Gap Analysis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/>
            <a:r>
              <a:rPr sz="2400" b="1">
                <a:solidFill>
                  <a:srgbClr val="122A4A"/>
                </a:solidFill>
                <a:latin typeface="Aptos"/>
              </a:rPr>
              <a:t>Key Takeaways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12648"/>
            <a:ext cx="10881360" cy="256032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/>
            <a:r>
              <a:rPr sz="1050" b="0">
                <a:solidFill>
                  <a:srgbClr val="5B6770"/>
                </a:solidFill>
                <a:latin typeface="Aptos"/>
              </a:rPr>
              <a:t>Actions to finalize the report gap analysis and prepare the impacted assets.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896112"/>
            <a:ext cx="11292840" cy="27432"/>
          </a:xfrm>
          <a:prstGeom prst="rect">
            <a:avLst/>
          </a:prstGeom>
          <a:solidFill>
            <a:srgbClr val="2A75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383280" cy="1143000"/>
          </a:xfrm>
          <a:prstGeom prst="roundRect">
            <a:avLst/>
          </a:prstGeom>
          <a:solidFill>
            <a:srgbClr val="2A75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1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ptos"/>
              </a:rPr>
              <a:t>Confirm impacted report and dashboard inventory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234440"/>
            <a:ext cx="3383280" cy="1143000"/>
          </a:xfrm>
          <a:prstGeom prst="roundRect">
            <a:avLst/>
          </a:prstGeom>
          <a:solidFill>
            <a:srgbClr val="0096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2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ptos"/>
              </a:rPr>
              <a:t>Finalize field-level dependency mapping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234440"/>
            <a:ext cx="3383280" cy="1143000"/>
          </a:xfrm>
          <a:prstGeom prst="roundRect">
            <a:avLst/>
          </a:prstGeom>
          <a:solidFill>
            <a:srgbClr val="F59E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3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ptos"/>
              </a:rPr>
              <a:t>Prioritize high-impact remediation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22A4A"/>
                </a:solidFill>
                <a:latin typeface="Aptos"/>
              </a:defRPr>
            </a:pPr>
            <a:r>
              <a:t>Use the heat map to focus effort on high-criticality reports first.</a:t>
            </a:r>
          </a:p>
          <a:p>
            <a:pPr>
              <a:defRPr sz="1500">
                <a:solidFill>
                  <a:srgbClr val="122A4A"/>
                </a:solidFill>
                <a:latin typeface="Aptos"/>
              </a:defRPr>
            </a:pPr>
            <a:r>
              <a:t>Validate expected KPI variance with business users before go-live communication.</a:t>
            </a:r>
          </a:p>
          <a:p>
            <a:pPr>
              <a:defRPr sz="1500">
                <a:solidFill>
                  <a:srgbClr val="122A4A"/>
                </a:solidFill>
                <a:latin typeface="Aptos"/>
              </a:defRPr>
            </a:pPr>
            <a:r>
              <a:t>Track remaining open gaps with owner, action, priority, and target release status.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5349240"/>
            <a:ext cx="8183879" cy="594360"/>
          </a:xfrm>
          <a:prstGeom prst="roundRect">
            <a:avLst/>
          </a:prstGeom>
          <a:solidFill>
            <a:srgbClr val="122A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Outcome: trusted reporting continuity after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r"/>
            <a:r>
              <a:rPr sz="850" b="0">
                <a:solidFill>
                  <a:srgbClr val="5B6770"/>
                </a:solidFill>
                <a:latin typeface="Aptos"/>
              </a:rPr>
              <a:t>Report &amp; Dashboard Gap Analysis |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